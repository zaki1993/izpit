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7" r:id="rId1"/>
  </p:sldMasterIdLst>
  <p:notesMasterIdLst>
    <p:notesMasterId r:id="rId29"/>
  </p:notesMasterIdLst>
  <p:handoutMasterIdLst>
    <p:handoutMasterId r:id="rId30"/>
  </p:handoutMasterIdLst>
  <p:sldIdLst>
    <p:sldId id="279" r:id="rId2"/>
    <p:sldId id="256" r:id="rId3"/>
    <p:sldId id="257" r:id="rId4"/>
    <p:sldId id="258" r:id="rId5"/>
    <p:sldId id="259" r:id="rId6"/>
    <p:sldId id="281" r:id="rId7"/>
    <p:sldId id="260" r:id="rId8"/>
    <p:sldId id="261" r:id="rId9"/>
    <p:sldId id="262" r:id="rId10"/>
    <p:sldId id="263" r:id="rId11"/>
    <p:sldId id="264" r:id="rId12"/>
    <p:sldId id="280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2" r:id="rId23"/>
    <p:sldId id="275" r:id="rId24"/>
    <p:sldId id="276" r:id="rId25"/>
    <p:sldId id="277" r:id="rId26"/>
    <p:sldId id="278" r:id="rId27"/>
    <p:sldId id="283" r:id="rId2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00FFFF"/>
    <a:srgbClr val="0000FF"/>
    <a:srgbClr val="FCAAAA"/>
    <a:srgbClr val="FF0000"/>
    <a:srgbClr val="3333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38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C677549-5B53-43B4-8AC2-E0AEA9C5DF13}" type="slidenum">
              <a:rPr lang="en-US" altLang="bg-BG"/>
              <a:pPr>
                <a:defRPr/>
              </a:pPr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712215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 noProof="0" smtClean="0"/>
              <a:t>Click to edit Master text styles</a:t>
            </a:r>
          </a:p>
          <a:p>
            <a:pPr lvl="1"/>
            <a:r>
              <a:rPr lang="en-US" altLang="bg-BG" noProof="0" smtClean="0"/>
              <a:t>Second level</a:t>
            </a:r>
          </a:p>
          <a:p>
            <a:pPr lvl="2"/>
            <a:r>
              <a:rPr lang="en-US" altLang="bg-BG" noProof="0" smtClean="0"/>
              <a:t>Third level</a:t>
            </a:r>
          </a:p>
          <a:p>
            <a:pPr lvl="3"/>
            <a:r>
              <a:rPr lang="en-US" altLang="bg-BG" noProof="0" smtClean="0"/>
              <a:t>Fourth level</a:t>
            </a:r>
          </a:p>
          <a:p>
            <a:pPr lvl="4"/>
            <a:r>
              <a:rPr lang="en-US" altLang="bg-BG" noProof="0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003C01B-6017-4769-8C00-95FC3377B354}" type="slidenum">
              <a:rPr lang="en-US" altLang="bg-BG"/>
              <a:pPr>
                <a:defRPr/>
              </a:pPr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222771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823D54-00CF-4654-9FF4-4D2A8F01F516}" type="slidenum">
              <a:rPr lang="en-US" altLang="bg-BG">
                <a:latin typeface="Times New Roman" panose="02020603050405020304" pitchFamily="18" charset="0"/>
              </a:rPr>
              <a:pPr/>
              <a:t>2</a:t>
            </a:fld>
            <a:endParaRPr lang="en-US" altLang="bg-BG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bg-BG" smtClean="0"/>
          </a:p>
        </p:txBody>
      </p:sp>
    </p:spTree>
    <p:extLst>
      <p:ext uri="{BB962C8B-B14F-4D97-AF65-F5344CB8AC3E}">
        <p14:creationId xmlns:p14="http://schemas.microsoft.com/office/powerpoint/2010/main" val="290596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1872B-B210-4DC4-9A86-DA87330828BE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796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0C40B-F070-436B-85AD-23FAD0EC4A09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84940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AC349-6F13-44AC-91D1-906A5C01B9FE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62851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DFC47-C63F-4B7C-AFC5-BFA7947E10FB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7006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2F0DC-6CC8-4CD1-96F9-EFA724873438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205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D2A3A-A4C5-4762-846C-12ACD0AD0510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0628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83FAF-01A3-4054-A96E-49A4AB90A2EA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9345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B7B1C-DE00-41A7-8E5B-45C2A84283A8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7617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bg-BG" noProof="0" smtClean="0"/>
              <a:t>Щракнете върху иконата, за да добавите картина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9812C-431A-4C27-BA52-49B043958DDC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96857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0B5F5-D6ED-45F3-886A-2B6FCE673B05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86278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9C679-C392-4770-8BF8-B05F5E251AAD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126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Редакт. стил загл. образец</a:t>
            </a:r>
            <a:endParaRPr lang="en-US" altLang="bg-BG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Редактиране на стиловете на текста в образеца</a:t>
            </a:r>
          </a:p>
          <a:p>
            <a:pPr lvl="1"/>
            <a:r>
              <a:rPr lang="bg-BG" altLang="bg-BG" smtClean="0"/>
              <a:t>Второ ниво</a:t>
            </a:r>
          </a:p>
          <a:p>
            <a:pPr lvl="2"/>
            <a:r>
              <a:rPr lang="bg-BG" altLang="bg-BG" smtClean="0"/>
              <a:t>Трето ниво</a:t>
            </a:r>
          </a:p>
          <a:p>
            <a:pPr lvl="3"/>
            <a:r>
              <a:rPr lang="bg-BG" altLang="bg-BG" smtClean="0"/>
              <a:t>Четвърто ниво</a:t>
            </a:r>
          </a:p>
          <a:p>
            <a:pPr lvl="4"/>
            <a:r>
              <a:rPr lang="bg-BG" altLang="bg-BG" smtClean="0"/>
              <a:t>Пето ниво</a:t>
            </a:r>
            <a:endParaRPr lang="en-US" altLang="bg-BG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38B3E9F-9F35-4157-930F-8BC716DE1EEE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071813" y="692150"/>
            <a:ext cx="6172200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bg-BG" altLang="bg-BG" sz="5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ВЪВЕДЕНИЕ  В</a:t>
            </a:r>
          </a:p>
          <a:p>
            <a:pPr algn="ctr">
              <a:spcBef>
                <a:spcPct val="50000"/>
              </a:spcBef>
              <a:defRPr/>
            </a:pPr>
            <a:r>
              <a:rPr lang="bg-BG" altLang="bg-BG" sz="5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ПСИХОЛОГИЯТА</a:t>
            </a:r>
          </a:p>
          <a:p>
            <a:pPr algn="ctr">
              <a:lnSpc>
                <a:spcPct val="200000"/>
              </a:lnSpc>
              <a:spcBef>
                <a:spcPct val="50000"/>
              </a:spcBef>
              <a:defRPr/>
            </a:pPr>
            <a:r>
              <a:rPr lang="en-US" altLang="bg-BG" sz="5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OOOK 038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3452813" y="5013325"/>
            <a:ext cx="541020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3200" i="1">
                <a:latin typeface="Times New Roman" panose="02020603050405020304" pitchFamily="18" charset="0"/>
              </a:rPr>
              <a:t>Гл. ас. д-р Методи Коралов</a:t>
            </a:r>
          </a:p>
          <a:p>
            <a:pPr algn="ctr">
              <a:spcBef>
                <a:spcPct val="50000"/>
              </a:spcBef>
            </a:pPr>
            <a:r>
              <a:rPr lang="bg-BG" altLang="bg-BG" sz="3200" i="1">
                <a:latin typeface="Times New Roman" panose="02020603050405020304" pitchFamily="18" charset="0"/>
              </a:rPr>
              <a:t>Доц. д-р Елена Паспаланова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895600" y="404813"/>
            <a:ext cx="6172200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П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И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Х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О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Л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О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Г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И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Я</a:t>
            </a:r>
            <a:endParaRPr lang="en-US" altLang="bg-BG" sz="4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424113" y="2368550"/>
            <a:ext cx="32908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3600" b="1" i="1">
                <a:latin typeface="Times New Roman" panose="02020603050405020304" pitchFamily="18" charset="0"/>
              </a:rPr>
              <a:t>психе</a:t>
            </a:r>
            <a:r>
              <a:rPr lang="en-US" altLang="bg-BG" sz="3600" b="1">
                <a:latin typeface="Times New Roman" panose="02020603050405020304" pitchFamily="18" charset="0"/>
              </a:rPr>
              <a:t> - душа</a:t>
            </a:r>
            <a:endParaRPr lang="en-US" altLang="bg-BG" sz="3600">
              <a:latin typeface="Times New Roman" panose="02020603050405020304" pitchFamily="18" charset="0"/>
            </a:endParaRP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6527800" y="2368550"/>
            <a:ext cx="28194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3600" b="1" i="1">
                <a:latin typeface="Times New Roman" panose="02020603050405020304" pitchFamily="18" charset="0"/>
              </a:rPr>
              <a:t>логос</a:t>
            </a:r>
            <a:r>
              <a:rPr lang="en-US" altLang="bg-BG" sz="3600" b="1">
                <a:latin typeface="Times New Roman" panose="02020603050405020304" pitchFamily="18" charset="0"/>
              </a:rPr>
              <a:t> - наука</a:t>
            </a:r>
          </a:p>
        </p:txBody>
      </p:sp>
      <p:sp>
        <p:nvSpPr>
          <p:cNvPr id="5125" name="Oval 8"/>
          <p:cNvSpPr>
            <a:spLocks noChangeArrowheads="1"/>
          </p:cNvSpPr>
          <p:nvPr/>
        </p:nvSpPr>
        <p:spPr bwMode="auto">
          <a:xfrm>
            <a:off x="4833938" y="3344863"/>
            <a:ext cx="2286000" cy="990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5126" name="Text Box 10"/>
          <p:cNvSpPr txBox="1">
            <a:spLocks noChangeArrowheads="1"/>
          </p:cNvSpPr>
          <p:nvPr/>
        </p:nvSpPr>
        <p:spPr bwMode="auto">
          <a:xfrm>
            <a:off x="5029200" y="3497263"/>
            <a:ext cx="1905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bg-BG" sz="3200" b="1">
                <a:latin typeface="Times New Roman" panose="02020603050405020304" pitchFamily="18" charset="0"/>
              </a:rPr>
              <a:t>психика</a:t>
            </a:r>
            <a:endParaRPr lang="en-US" altLang="bg-BG" sz="3200">
              <a:latin typeface="Times New Roman" panose="02020603050405020304" pitchFamily="18" charset="0"/>
            </a:endParaRPr>
          </a:p>
        </p:txBody>
      </p:sp>
      <p:sp>
        <p:nvSpPr>
          <p:cNvPr id="5127" name="Text Box 11"/>
          <p:cNvSpPr txBox="1">
            <a:spLocks noChangeArrowheads="1"/>
          </p:cNvSpPr>
          <p:nvPr/>
        </p:nvSpPr>
        <p:spPr bwMode="auto">
          <a:xfrm>
            <a:off x="1271588" y="4976813"/>
            <a:ext cx="993775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3200" i="1">
                <a:latin typeface="Times New Roman" panose="02020603050405020304" pitchFamily="18" charset="0"/>
              </a:rPr>
              <a:t>Примерна дефиниция: психиката е свойство на човека да </a:t>
            </a:r>
            <a:r>
              <a:rPr lang="bg-BG" altLang="bg-BG" sz="3200" i="1">
                <a:solidFill>
                  <a:srgbClr val="3333CC"/>
                </a:solidFill>
                <a:latin typeface="Times New Roman" panose="02020603050405020304" pitchFamily="18" charset="0"/>
              </a:rPr>
              <a:t>опознава</a:t>
            </a:r>
            <a:r>
              <a:rPr lang="bg-BG" altLang="bg-BG" sz="3200" i="1">
                <a:latin typeface="Times New Roman" panose="02020603050405020304" pitchFamily="18" charset="0"/>
              </a:rPr>
              <a:t> и </a:t>
            </a:r>
            <a:r>
              <a:rPr lang="bg-BG" altLang="bg-BG" sz="3200" i="1">
                <a:solidFill>
                  <a:srgbClr val="3333CC"/>
                </a:solidFill>
                <a:latin typeface="Times New Roman" panose="02020603050405020304" pitchFamily="18" charset="0"/>
              </a:rPr>
              <a:t>реагира </a:t>
            </a:r>
            <a:r>
              <a:rPr lang="bg-BG" altLang="bg-BG" sz="3200" i="1">
                <a:latin typeface="Times New Roman" panose="02020603050405020304" pitchFamily="18" charset="0"/>
              </a:rPr>
              <a:t>на заобикалящия го свят и на самия себе си.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890838" y="1177925"/>
            <a:ext cx="61722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П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И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Х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О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Л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О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Г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И</a:t>
            </a:r>
            <a:r>
              <a:rPr lang="bg-BG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bg-BG" sz="4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Я</a:t>
            </a:r>
            <a:endParaRPr lang="en-US" altLang="bg-BG" sz="42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29" name="Текстово поле 1"/>
          <p:cNvSpPr txBox="1">
            <a:spLocks noChangeArrowheads="1"/>
          </p:cNvSpPr>
          <p:nvPr/>
        </p:nvSpPr>
        <p:spPr bwMode="auto">
          <a:xfrm>
            <a:off x="623888" y="3144838"/>
            <a:ext cx="2159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bg-BG" altLang="bg-BG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</a:t>
            </a:r>
          </a:p>
          <a:p>
            <a:pPr eaLnBrk="1" hangingPunct="1"/>
            <a:r>
              <a:rPr lang="bg-BG" altLang="bg-BG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недоказуемо</a:t>
            </a:r>
          </a:p>
        </p:txBody>
      </p:sp>
      <p:sp>
        <p:nvSpPr>
          <p:cNvPr id="5130" name="Текстово поле 13"/>
          <p:cNvSpPr txBox="1">
            <a:spLocks noChangeArrowheads="1"/>
          </p:cNvSpPr>
          <p:nvPr/>
        </p:nvSpPr>
        <p:spPr bwMode="auto">
          <a:xfrm>
            <a:off x="8040688" y="3344863"/>
            <a:ext cx="36718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bg-BG" altLang="bg-BG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</a:t>
            </a:r>
          </a:p>
          <a:p>
            <a:pPr eaLnBrk="1" hangingPunct="1"/>
            <a:r>
              <a:rPr lang="bg-BG" altLang="bg-BG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доказуемо</a:t>
            </a:r>
          </a:p>
          <a:p>
            <a:pPr eaLnBrk="1" hangingPunct="1"/>
            <a:r>
              <a:rPr lang="bg-BG" altLang="bg-BG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подлежи на изследване</a:t>
            </a:r>
          </a:p>
        </p:txBody>
      </p:sp>
      <p:sp>
        <p:nvSpPr>
          <p:cNvPr id="3" name="Извита стрелка нагоре 2"/>
          <p:cNvSpPr/>
          <p:nvPr/>
        </p:nvSpPr>
        <p:spPr>
          <a:xfrm rot="20477644">
            <a:off x="1825625" y="3465513"/>
            <a:ext cx="3038475" cy="504825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bg-BG">
              <a:solidFill>
                <a:schemeClr val="tx1"/>
              </a:solidFill>
            </a:endParaRPr>
          </a:p>
        </p:txBody>
      </p:sp>
      <p:sp>
        <p:nvSpPr>
          <p:cNvPr id="16" name="Извита стрелка нагоре 15"/>
          <p:cNvSpPr/>
          <p:nvPr/>
        </p:nvSpPr>
        <p:spPr>
          <a:xfrm rot="548113" flipH="1">
            <a:off x="5838825" y="4298950"/>
            <a:ext cx="3241675" cy="461963"/>
          </a:xfrm>
          <a:prstGeom prst="curvedUpArrow">
            <a:avLst/>
          </a:prstGeom>
          <a:solidFill>
            <a:srgbClr val="0000FF"/>
          </a:solidFill>
          <a:ln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bg-BG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430463" y="725488"/>
            <a:ext cx="7543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dirty="0">
                <a:latin typeface="ArielSP" pitchFamily="34" charset="-52"/>
              </a:rPr>
              <a:t>	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Психологията е наука за:</a:t>
            </a:r>
            <a:endParaRPr lang="en-US" altLang="bg-BG" sz="3200" dirty="0">
              <a:latin typeface="Times New Roman" panose="02020603050405020304" pitchFamily="18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39788" y="1600200"/>
            <a:ext cx="108013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bg-BG" altLang="bg-BG" sz="3000">
                <a:latin typeface="ArielSP" pitchFamily="34" charset="-52"/>
              </a:rPr>
              <a:t> </a:t>
            </a:r>
            <a:r>
              <a:rPr lang="bg-BG" altLang="bg-BG" sz="3000" b="1">
                <a:latin typeface="ArielSP" pitchFamily="34" charset="-52"/>
              </a:rPr>
              <a:t>поведението,</a:t>
            </a:r>
            <a:r>
              <a:rPr lang="bg-BG" altLang="bg-BG" sz="3000">
                <a:latin typeface="ArielSP" pitchFamily="34" charset="-52"/>
              </a:rPr>
              <a:t> за наблюдаемите действия и реакции на хората и другите живи организми</a:t>
            </a:r>
            <a:endParaRPr lang="en-US" altLang="bg-BG" sz="3000">
              <a:latin typeface="ArielSP" pitchFamily="34" charset="-52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38200" y="4110038"/>
            <a:ext cx="11234738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-341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bg-BG" altLang="bg-BG" sz="3000">
                <a:latin typeface="ArielSP" pitchFamily="34" charset="-52"/>
              </a:rPr>
              <a:t> </a:t>
            </a:r>
            <a:r>
              <a:rPr lang="bg-BG" altLang="bg-BG" sz="3000" b="1">
                <a:latin typeface="ArielSP" pitchFamily="34" charset="-52"/>
              </a:rPr>
              <a:t>емоционалните процеси</a:t>
            </a:r>
            <a:r>
              <a:rPr lang="bg-BG" altLang="bg-BG" sz="3000">
                <a:latin typeface="ArielSP" pitchFamily="34" charset="-52"/>
              </a:rPr>
              <a:t> – емоции (радост, гняв, страх…) и чувства (щастие, любов, лоялност…)</a:t>
            </a:r>
            <a:endParaRPr lang="en-US" altLang="bg-BG" sz="3000">
              <a:latin typeface="ArielSP" pitchFamily="34" charset="-52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835025" y="5368925"/>
            <a:ext cx="1073467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bg-BG" altLang="bg-BG" sz="3000">
                <a:latin typeface="ArielSP" pitchFamily="34" charset="-52"/>
              </a:rPr>
              <a:t> </a:t>
            </a:r>
            <a:r>
              <a:rPr lang="bg-BG" altLang="bg-BG" sz="3000" b="1" u="sng">
                <a:latin typeface="ArielSP" pitchFamily="34" charset="-52"/>
              </a:rPr>
              <a:t>психиката,</a:t>
            </a:r>
            <a:r>
              <a:rPr lang="bg-BG" altLang="bg-BG" sz="3000">
                <a:latin typeface="ArielSP" pitchFamily="34" charset="-52"/>
              </a:rPr>
              <a:t> закономерностите на нейното </a:t>
            </a:r>
            <a:r>
              <a:rPr lang="bg-BG" altLang="bg-BG" sz="3000" i="1">
                <a:latin typeface="ArielSP" pitchFamily="34" charset="-52"/>
              </a:rPr>
              <a:t>възникване</a:t>
            </a:r>
            <a:r>
              <a:rPr lang="bg-BG" altLang="bg-BG" sz="3000">
                <a:latin typeface="ArielSP" pitchFamily="34" charset="-52"/>
              </a:rPr>
              <a:t>, </a:t>
            </a:r>
            <a:r>
              <a:rPr lang="bg-BG" altLang="bg-BG" sz="3000" i="1">
                <a:latin typeface="ArielSP" pitchFamily="34" charset="-52"/>
              </a:rPr>
              <a:t>развитие</a:t>
            </a:r>
            <a:r>
              <a:rPr lang="bg-BG" altLang="bg-BG" sz="3000">
                <a:latin typeface="ArielSP" pitchFamily="34" charset="-52"/>
              </a:rPr>
              <a:t> и </a:t>
            </a:r>
            <a:r>
              <a:rPr lang="bg-BG" altLang="bg-BG" sz="3000" i="1">
                <a:latin typeface="ArielSP" pitchFamily="34" charset="-52"/>
              </a:rPr>
              <a:t>функциониране</a:t>
            </a:r>
            <a:endParaRPr lang="en-US" altLang="bg-BG" sz="3000">
              <a:latin typeface="ArielSP" pitchFamily="34" charset="-52"/>
            </a:endParaRPr>
          </a:p>
        </p:txBody>
      </p:sp>
      <p:sp>
        <p:nvSpPr>
          <p:cNvPr id="7174" name="Text Box 4"/>
          <p:cNvSpPr txBox="1">
            <a:spLocks noChangeArrowheads="1"/>
          </p:cNvSpPr>
          <p:nvPr/>
        </p:nvSpPr>
        <p:spPr bwMode="auto">
          <a:xfrm>
            <a:off x="838200" y="2859088"/>
            <a:ext cx="107997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bg-BG" altLang="bg-BG" sz="3000">
                <a:latin typeface="ArielSP" pitchFamily="34" charset="-52"/>
              </a:rPr>
              <a:t> </a:t>
            </a:r>
            <a:r>
              <a:rPr lang="bg-BG" altLang="bg-BG" sz="3000" b="1">
                <a:latin typeface="ArielSP" pitchFamily="34" charset="-52"/>
              </a:rPr>
              <a:t>умствените процеси</a:t>
            </a:r>
            <a:r>
              <a:rPr lang="bg-BG" altLang="bg-BG" sz="3000">
                <a:latin typeface="ArielSP" pitchFamily="34" charset="-52"/>
              </a:rPr>
              <a:t> - възприятие, памет, мислене, вземане на решение…</a:t>
            </a:r>
            <a:endParaRPr lang="en-US" altLang="bg-BG" sz="3000">
              <a:latin typeface="ArielSP" pitchFamily="3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463800" y="409575"/>
            <a:ext cx="76962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Цели на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695325" y="2498725"/>
            <a:ext cx="1123315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>
                <a:latin typeface="ArielSP" pitchFamily="34" charset="-52"/>
              </a:rPr>
              <a:t>2. Д</a:t>
            </a:r>
            <a:r>
              <a:rPr lang="bg-BG" altLang="bg-BG" sz="2800" b="1">
                <a:latin typeface="ArielSP" pitchFamily="34" charset="-52"/>
              </a:rPr>
              <a:t>а предвиждаме</a:t>
            </a:r>
            <a:r>
              <a:rPr lang="bg-BG" altLang="bg-BG" sz="2800">
                <a:latin typeface="ArielSP" pitchFamily="34" charset="-52"/>
              </a:rPr>
              <a:t> бъдещото поведение на хората - напр. </a:t>
            </a:r>
            <a:r>
              <a:rPr lang="bg-BG" altLang="bg-BG" sz="2800" i="1">
                <a:latin typeface="ArielSP" pitchFamily="34" charset="-52"/>
              </a:rPr>
              <a:t>какви условия трябва да са налице, за да развие детето приятелски отношения с връстниците си в бъдеще</a:t>
            </a:r>
            <a:r>
              <a:rPr lang="bg-BG" altLang="bg-BG" sz="2800">
                <a:latin typeface="ArielSP" pitchFamily="34" charset="-52"/>
              </a:rPr>
              <a:t>. </a:t>
            </a:r>
            <a:r>
              <a:rPr lang="bg-BG" altLang="bg-BG" sz="2800" i="1">
                <a:latin typeface="ArielSP" pitchFamily="34" charset="-52"/>
              </a:rPr>
              <a:t>Престъпно поведение.</a:t>
            </a:r>
            <a:endParaRPr lang="en-US" altLang="bg-BG" sz="2400" i="1">
              <a:latin typeface="Times New Roman" panose="02020603050405020304" pitchFamily="18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95325" y="1754188"/>
            <a:ext cx="11088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1.</a:t>
            </a:r>
            <a:r>
              <a:rPr lang="bg-BG" altLang="bg-BG" sz="24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Да си </a:t>
            </a:r>
            <a:r>
              <a:rPr lang="bg-BG" altLang="bg-BG" sz="2800" b="1">
                <a:latin typeface="ArielSP" pitchFamily="34" charset="-52"/>
              </a:rPr>
              <a:t>обясняваме</a:t>
            </a:r>
            <a:r>
              <a:rPr lang="bg-BG" altLang="bg-BG" sz="2800">
                <a:latin typeface="ArielSP" pitchFamily="34" charset="-52"/>
              </a:rPr>
              <a:t> и </a:t>
            </a:r>
            <a:r>
              <a:rPr lang="bg-BG" altLang="bg-BG" sz="2800" b="1">
                <a:latin typeface="ArielSP" pitchFamily="34" charset="-52"/>
              </a:rPr>
              <a:t>разбираме </a:t>
            </a:r>
            <a:r>
              <a:rPr lang="bg-BG" altLang="bg-BG" sz="2800">
                <a:latin typeface="ArielSP" pitchFamily="34" charset="-52"/>
              </a:rPr>
              <a:t>човешкото поведение.</a:t>
            </a:r>
            <a:endParaRPr lang="bg-BG" altLang="bg-BG" sz="2400">
              <a:latin typeface="Times New Roman" panose="02020603050405020304" pitchFamily="18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695325" y="4103688"/>
            <a:ext cx="11088688" cy="249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>
                <a:latin typeface="ArielSP" pitchFamily="34" charset="-52"/>
              </a:rPr>
              <a:t>3. Да </a:t>
            </a:r>
            <a:r>
              <a:rPr lang="bg-BG" altLang="bg-BG" sz="2800" b="1">
                <a:latin typeface="ArielSP" pitchFamily="34" charset="-52"/>
              </a:rPr>
              <a:t>контролираме</a:t>
            </a:r>
            <a:r>
              <a:rPr lang="bg-BG" altLang="bg-BG" sz="2800">
                <a:latin typeface="ArielSP" pitchFamily="34" charset="-52"/>
              </a:rPr>
              <a:t> някои видове поведение - напр. </a:t>
            </a:r>
            <a:r>
              <a:rPr lang="bg-BG" altLang="bg-BG" sz="2800" i="1">
                <a:latin typeface="ArielSP" pitchFamily="34" charset="-52"/>
              </a:rPr>
              <a:t>как терапевтът да помогне на пациента да преодолее ирационалния си страх (от асансьор напр.). </a:t>
            </a:r>
            <a:r>
              <a:rPr lang="bg-BG" altLang="bg-BG" sz="2400">
                <a:latin typeface="ArielSP" pitchFamily="34" charset="-52"/>
              </a:rPr>
              <a:t>Проблемът с </a:t>
            </a:r>
            <a:r>
              <a:rPr lang="bg-BG" altLang="bg-BG" sz="2400" b="1">
                <a:latin typeface="ArielSP" pitchFamily="34" charset="-52"/>
              </a:rPr>
              <a:t>манипулацията</a:t>
            </a:r>
            <a:r>
              <a:rPr lang="bg-BG" altLang="bg-BG" sz="2400">
                <a:latin typeface="ArielSP" pitchFamily="34" charset="-52"/>
              </a:rPr>
              <a:t> и стремежът на много хора и обществени сфери да използват психологията; реклама; маркетинг; пропаганда; политика; фалшиви новини и т.н.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695325" y="920750"/>
            <a:ext cx="112331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bg-BG" sz="2600" b="1">
                <a:latin typeface="ArielSP" pitchFamily="34" charset="-52"/>
              </a:rPr>
              <a:t>(</a:t>
            </a:r>
            <a:r>
              <a:rPr lang="bg-BG" altLang="bg-BG" sz="2600">
                <a:latin typeface="ArielSP" pitchFamily="34" charset="-52"/>
              </a:rPr>
              <a:t>защо е необходимо да придобиваме знание за човешкото поведение)</a:t>
            </a:r>
            <a:endParaRPr lang="en-US" altLang="bg-BG" sz="2600">
              <a:latin typeface="ArielSP" pitchFamily="3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063552" y="1319257"/>
            <a:ext cx="8001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bg-BG" altLang="bg-BG" sz="6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 парадигми в психологията</a:t>
            </a:r>
            <a:endParaRPr lang="en-US" altLang="bg-BG" sz="6000" dirty="0">
              <a:latin typeface="Times New Roman" panose="02020603050405020304" pitchFamily="18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983432" y="4221088"/>
            <a:ext cx="1044116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bg-BG" altLang="bg-BG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Парадигма: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bg-BG" altLang="bg-BG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elSP" pitchFamily="34" charset="-52"/>
              </a:rPr>
              <a:t>гледна точка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bg-BG" altLang="bg-BG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elSP" pitchFamily="34" charset="-52"/>
              </a:rPr>
              <a:t>глобална идея</a:t>
            </a:r>
          </a:p>
          <a:p>
            <a:pPr marL="457200" indent="-457200">
              <a:buFont typeface="Wingdings" panose="05000000000000000000" pitchFamily="2" charset="2"/>
              <a:buChar char="Ø"/>
              <a:defRPr/>
            </a:pPr>
            <a:r>
              <a:rPr lang="bg-BG" altLang="bg-BG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elSP" pitchFamily="34" charset="-52"/>
              </a:rPr>
              <a:t>обяснителен модел</a:t>
            </a:r>
            <a:endParaRPr lang="en-US" alt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6670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</a:t>
            </a:r>
            <a:r>
              <a:rPr lang="bg-BG" altLang="bg-BG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 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парадигми в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766763" y="990600"/>
            <a:ext cx="1101725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 b="1">
                <a:latin typeface="ArielSP" pitchFamily="34" charset="-52"/>
              </a:rPr>
              <a:t>1. Психоанализ.</a:t>
            </a:r>
            <a:r>
              <a:rPr lang="bg-BG" altLang="bg-BG" sz="2800">
                <a:latin typeface="ArielSP" pitchFamily="34" charset="-52"/>
              </a:rPr>
              <a:t> Основоположник - виенският лекар-невролог Зигмунд Фройд. Подчертава ролята на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66763" y="5013325"/>
            <a:ext cx="110902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Човек осъзнава само малка част от психиката си (до 10%). Останалата се проявява в сънищата, в неясните (безпредметни) безпокойства, в натрапливите предчувствия, в езиковите грешки. 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162300" y="2420938"/>
            <a:ext cx="7010400" cy="1189037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i="1">
                <a:solidFill>
                  <a:srgbClr val="3333CC"/>
                </a:solidFill>
                <a:latin typeface="ArielSP" pitchFamily="34" charset="-52"/>
              </a:rPr>
              <a:t> </a:t>
            </a:r>
            <a:r>
              <a:rPr lang="bg-BG" altLang="bg-BG" sz="2800" b="1" i="1">
                <a:solidFill>
                  <a:srgbClr val="3333CC"/>
                </a:solidFill>
                <a:latin typeface="ArielSP" pitchFamily="34" charset="-52"/>
              </a:rPr>
              <a:t>несъзнаваните</a:t>
            </a:r>
            <a:r>
              <a:rPr lang="bg-BG" altLang="bg-BG" sz="2800" i="1">
                <a:latin typeface="ArielSP" pitchFamily="34" charset="-52"/>
              </a:rPr>
              <a:t> процеси</a:t>
            </a:r>
            <a:r>
              <a:rPr lang="bg-BG" altLang="bg-BG" sz="2800">
                <a:latin typeface="ArielSP" pitchFamily="34" charset="-52"/>
              </a:rPr>
              <a:t> </a:t>
            </a:r>
          </a:p>
          <a:p>
            <a:pPr algn="ctr">
              <a:spcBef>
                <a:spcPct val="50000"/>
              </a:spcBef>
            </a:pPr>
            <a:r>
              <a:rPr lang="en-US" altLang="bg-BG" sz="2800">
                <a:latin typeface="ArielSP" pitchFamily="34" charset="-52"/>
              </a:rPr>
              <a:t>(подбуди и стремежи)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129213" y="4005263"/>
            <a:ext cx="3076575" cy="52387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i="1">
                <a:latin typeface="ArielSP" pitchFamily="34" charset="-52"/>
              </a:rPr>
              <a:t> </a:t>
            </a:r>
            <a:r>
              <a:rPr lang="bg-BG" altLang="bg-BG" sz="2800" b="1" i="1">
                <a:solidFill>
                  <a:srgbClr val="3333CC"/>
                </a:solidFill>
                <a:latin typeface="ArielSP" pitchFamily="34" charset="-52"/>
              </a:rPr>
              <a:t>инстинктите</a:t>
            </a:r>
            <a:endParaRPr lang="en-US" altLang="bg-BG" sz="2800" b="1" i="1">
              <a:solidFill>
                <a:srgbClr val="3333CC"/>
              </a:solidFill>
              <a:latin typeface="ArielSP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354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768350" y="990600"/>
            <a:ext cx="105124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2. Бихейвиоризъм </a:t>
            </a:r>
            <a:r>
              <a:rPr lang="en-US" altLang="bg-BG" sz="2800" b="1">
                <a:latin typeface="ArielSP" pitchFamily="34" charset="-52"/>
              </a:rPr>
              <a:t>(behavior </a:t>
            </a:r>
            <a:r>
              <a:rPr lang="bg-BG" altLang="bg-BG" sz="2800" b="1">
                <a:latin typeface="ArielSP" pitchFamily="34" charset="-52"/>
              </a:rPr>
              <a:t>– поведение). </a:t>
            </a:r>
            <a:r>
              <a:rPr lang="bg-BG" altLang="bg-BG" sz="2800">
                <a:latin typeface="ArielSP" pitchFamily="34" charset="-52"/>
              </a:rPr>
              <a:t>Джон Уотсън, Скинър.</a:t>
            </a:r>
          </a:p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Акцентира върху изучаване на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3733800" y="3068638"/>
            <a:ext cx="5170488" cy="52387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i="1">
                <a:solidFill>
                  <a:srgbClr val="3333CC"/>
                </a:solidFill>
                <a:latin typeface="ArielSP" pitchFamily="34" charset="-52"/>
              </a:rPr>
              <a:t>Наблюдаемото</a:t>
            </a:r>
            <a:r>
              <a:rPr lang="bg-BG" altLang="bg-BG" sz="2800">
                <a:latin typeface="ArielSP" pitchFamily="34" charset="-52"/>
              </a:rPr>
              <a:t> поведение.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768350" y="4489450"/>
            <a:ext cx="8842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Основен принцип за обясняване на поведението е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3294063" y="5491163"/>
            <a:ext cx="6049962" cy="522287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i="1">
                <a:latin typeface="ArielSP" pitchFamily="34" charset="-52"/>
              </a:rPr>
              <a:t>връзката </a:t>
            </a:r>
            <a:r>
              <a:rPr lang="bg-BG" altLang="bg-BG" sz="2800" i="1">
                <a:solidFill>
                  <a:srgbClr val="3333CC"/>
                </a:solidFill>
                <a:latin typeface="ArielSP" pitchFamily="34" charset="-52"/>
              </a:rPr>
              <a:t>стимул-реакция </a:t>
            </a:r>
            <a:r>
              <a:rPr lang="en-US" altLang="bg-BG" sz="2800" i="1">
                <a:solidFill>
                  <a:srgbClr val="3333CC"/>
                </a:solidFill>
                <a:latin typeface="ArielSP" pitchFamily="34" charset="-52"/>
              </a:rPr>
              <a:t>(S – R)</a:t>
            </a:r>
            <a:r>
              <a:rPr lang="bg-BG" altLang="bg-BG" sz="2800">
                <a:latin typeface="ArielSP" pitchFamily="34" charset="-52"/>
              </a:rPr>
              <a:t>.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6670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</a:t>
            </a:r>
            <a:r>
              <a:rPr lang="bg-BG" altLang="bg-BG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 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парадигми в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5"/>
          <p:cNvSpPr txBox="1">
            <a:spLocks noChangeArrowheads="1"/>
          </p:cNvSpPr>
          <p:nvPr/>
        </p:nvSpPr>
        <p:spPr bwMode="auto">
          <a:xfrm>
            <a:off x="766763" y="985838"/>
            <a:ext cx="101536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3. Хуманистичен</a:t>
            </a:r>
            <a:r>
              <a:rPr lang="bg-BG" altLang="bg-BG" sz="2400" b="1">
                <a:latin typeface="ArielSP" pitchFamily="34" charset="-52"/>
              </a:rPr>
              <a:t> </a:t>
            </a:r>
            <a:r>
              <a:rPr lang="bg-BG" altLang="bg-BG" sz="2800" b="1">
                <a:latin typeface="ArielSP" pitchFamily="34" charset="-52"/>
              </a:rPr>
              <a:t>подход</a:t>
            </a:r>
            <a:r>
              <a:rPr lang="bg-BG" altLang="bg-BG" sz="2400">
                <a:latin typeface="ArielSP" pitchFamily="34" charset="-52"/>
              </a:rPr>
              <a:t> - </a:t>
            </a:r>
            <a:r>
              <a:rPr lang="bg-BG" altLang="bg-BG" sz="2800">
                <a:latin typeface="ArielSP" pitchFamily="34" charset="-52"/>
              </a:rPr>
              <a:t>А. Маслоу,</a:t>
            </a:r>
            <a:r>
              <a:rPr lang="en-US" altLang="bg-BG" sz="28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К. Роджърс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1267" name="Text Box 6"/>
          <p:cNvSpPr txBox="1">
            <a:spLocks noChangeArrowheads="1"/>
          </p:cNvSpPr>
          <p:nvPr/>
        </p:nvSpPr>
        <p:spPr bwMode="auto">
          <a:xfrm>
            <a:off x="2555875" y="2044700"/>
            <a:ext cx="73914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Духовното развитие на човека, личностното му израстване и  самоопределението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1268" name="Text Box 7"/>
          <p:cNvSpPr txBox="1">
            <a:spLocks noChangeArrowheads="1"/>
          </p:cNvSpPr>
          <p:nvPr/>
        </p:nvSpPr>
        <p:spPr bwMode="auto">
          <a:xfrm>
            <a:off x="2590800" y="3922489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Ценности, субективни преживявания, уникалност на всяко човешко същество</a:t>
            </a:r>
            <a:endParaRPr lang="bg-BG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3276600" y="543016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Свободна воля</a:t>
            </a:r>
            <a:endParaRPr lang="bg-BG" altLang="bg-BG" sz="2400" dirty="0">
              <a:latin typeface="ArielSP" pitchFamily="34" charset="-52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26670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</a:t>
            </a:r>
            <a:r>
              <a:rPr lang="bg-BG" altLang="bg-BG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 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парадигми в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766763" y="990600"/>
            <a:ext cx="3217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4. Когнитивизъм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766763" y="4284663"/>
            <a:ext cx="110902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i="1">
                <a:latin typeface="ArielSP" pitchFamily="34" charset="-52"/>
              </a:rPr>
              <a:t>Процеси на преработка на информацията - </a:t>
            </a:r>
            <a:r>
              <a:rPr lang="bg-BG" altLang="bg-BG" sz="2800">
                <a:latin typeface="ArielSP" pitchFamily="34" charset="-52"/>
              </a:rPr>
              <a:t>как мозъкът подбира, преработва, съхранява и извлича от паметта информацията, която постъпва от средата.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766763" y="2205038"/>
            <a:ext cx="1109027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Познавателна дейност и мисловни процеси - внимание, възприятие, представи, памет, мислене, език, разсъждение, вземане на решение.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6670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</a:t>
            </a:r>
            <a:r>
              <a:rPr lang="bg-BG" altLang="bg-BG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 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парадигми в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769938" y="990600"/>
            <a:ext cx="414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5. Биологичен подход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769938" y="1973263"/>
            <a:ext cx="105822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Анализира физиологичните промени свързани с поведението и преживяванията на човека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769938" y="3389313"/>
            <a:ext cx="10582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Как нервната система на човека е свързана с поведението на човека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667000" y="3048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Основни</a:t>
            </a:r>
            <a:r>
              <a:rPr lang="bg-BG" altLang="bg-BG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 </a:t>
            </a:r>
            <a:r>
              <a:rPr lang="bg-BG" alt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elSP" pitchFamily="34" charset="-52"/>
              </a:rPr>
              <a:t>парадигми в психологията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769938" y="4797425"/>
            <a:ext cx="107981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Специален акцент върху мозъка, мозъчните структури, дялове, </a:t>
            </a:r>
            <a:r>
              <a:rPr lang="bg-BG" altLang="bg-BG" sz="2800" dirty="0" smtClean="0">
                <a:latin typeface="ArielSP" pitchFamily="34" charset="-52"/>
              </a:rPr>
              <a:t>системи, </a:t>
            </a:r>
            <a:r>
              <a:rPr lang="bg-BG" altLang="bg-BG" sz="2800" dirty="0" err="1" smtClean="0">
                <a:latin typeface="ArielSP" pitchFamily="34" charset="-52"/>
              </a:rPr>
              <a:t>невротрансмитери</a:t>
            </a:r>
            <a:r>
              <a:rPr lang="bg-BG" altLang="bg-BG" sz="2800" dirty="0" smtClean="0">
                <a:latin typeface="ArielSP" pitchFamily="34" charset="-52"/>
              </a:rPr>
              <a:t> и хормони (какво са </a:t>
            </a:r>
            <a:r>
              <a:rPr lang="bg-BG" altLang="bg-BG" sz="2800" dirty="0" err="1" smtClean="0">
                <a:latin typeface="ArielSP" pitchFamily="34" charset="-52"/>
              </a:rPr>
              <a:t>серотонин</a:t>
            </a:r>
            <a:r>
              <a:rPr lang="bg-BG" altLang="bg-BG" sz="2800" dirty="0" smtClean="0">
                <a:latin typeface="ArielSP" pitchFamily="34" charset="-52"/>
              </a:rPr>
              <a:t> и </a:t>
            </a:r>
            <a:r>
              <a:rPr lang="bg-BG" altLang="bg-BG" sz="2800" dirty="0" err="1" smtClean="0">
                <a:latin typeface="ArielSP" pitchFamily="34" charset="-52"/>
              </a:rPr>
              <a:t>допамин</a:t>
            </a:r>
            <a:r>
              <a:rPr lang="bg-BG" altLang="bg-BG" sz="2800" dirty="0" smtClean="0">
                <a:latin typeface="ArielSP" pitchFamily="34" charset="-52"/>
              </a:rPr>
              <a:t>? а </a:t>
            </a:r>
            <a:r>
              <a:rPr lang="bg-BG" altLang="bg-BG" sz="2800" dirty="0" err="1" smtClean="0">
                <a:latin typeface="ArielSP" pitchFamily="34" charset="-52"/>
              </a:rPr>
              <a:t>кортизол</a:t>
            </a:r>
            <a:r>
              <a:rPr lang="bg-BG" altLang="bg-BG" sz="2800" dirty="0" smtClean="0">
                <a:latin typeface="ArielSP" pitchFamily="34" charset="-52"/>
              </a:rPr>
              <a:t>?). </a:t>
            </a:r>
            <a:r>
              <a:rPr lang="bg-BG" altLang="bg-BG" sz="2800" dirty="0">
                <a:latin typeface="ArielSP" pitchFamily="34" charset="-52"/>
              </a:rPr>
              <a:t>Нарушения на мозъка</a:t>
            </a:r>
            <a:endParaRPr lang="en-US" altLang="bg-BG" sz="2800" dirty="0">
              <a:latin typeface="ArielSP" pitchFamily="3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23392" y="2204864"/>
            <a:ext cx="1065795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ctr"/>
            <a:r>
              <a:rPr lang="bg-BG" altLang="bg-BG" sz="6000" b="1" dirty="0">
                <a:latin typeface="ArielSP" pitchFamily="34" charset="-52"/>
              </a:rPr>
              <a:t>Психологията </a:t>
            </a:r>
            <a:r>
              <a:rPr lang="bg-BG" altLang="bg-BG" sz="6000" b="1" dirty="0">
                <a:ln w="28575">
                  <a:solidFill>
                    <a:schemeClr val="tx1"/>
                  </a:solidFill>
                </a:ln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6000" b="1" dirty="0">
                <a:ln w="28575">
                  <a:solidFill>
                    <a:schemeClr val="tx1"/>
                  </a:solidFill>
                </a:ln>
                <a:latin typeface="ArielSP" pitchFamily="34" charset="-52"/>
              </a:rPr>
              <a:t> </a:t>
            </a:r>
            <a:r>
              <a:rPr lang="bg-BG" altLang="bg-BG" sz="6000" b="1" dirty="0">
                <a:latin typeface="ArielSP" pitchFamily="34" charset="-52"/>
              </a:rPr>
              <a:t>- основни дялове</a:t>
            </a:r>
            <a:endParaRPr lang="en-US" altLang="bg-BG" sz="6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>
                <a:latin typeface="ArielSP" pitchFamily="34" charset="-52"/>
              </a:rPr>
              <a:t>Психологията </a:t>
            </a:r>
            <a:r>
              <a:rPr lang="bg-BG" altLang="bg-BG" sz="3200" b="1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>
                <a:latin typeface="ArielSP" pitchFamily="34" charset="-52"/>
              </a:rPr>
              <a:t> - основни дялове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01675" y="1452563"/>
            <a:ext cx="11017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dirty="0">
                <a:latin typeface="ArielSP" pitchFamily="34" charset="-52"/>
              </a:rPr>
              <a:t>1. Биологична </a:t>
            </a:r>
            <a:r>
              <a:rPr lang="en-US" altLang="bg-BG" sz="2800" b="1" dirty="0">
                <a:latin typeface="ArielSP" pitchFamily="34" charset="-52"/>
              </a:rPr>
              <a:t>(</a:t>
            </a:r>
            <a:r>
              <a:rPr lang="bg-BG" altLang="bg-BG" sz="2800" b="1" dirty="0">
                <a:latin typeface="ArielSP" pitchFamily="34" charset="-52"/>
              </a:rPr>
              <a:t>физиологична</a:t>
            </a:r>
            <a:r>
              <a:rPr lang="en-US" altLang="bg-BG" sz="2800" b="1" dirty="0">
                <a:latin typeface="ArielSP" pitchFamily="34" charset="-52"/>
              </a:rPr>
              <a:t>) </a:t>
            </a:r>
            <a:r>
              <a:rPr lang="bg-BG" altLang="bg-BG" sz="2800" b="1" dirty="0">
                <a:latin typeface="ArielSP" pitchFamily="34" charset="-52"/>
              </a:rPr>
              <a:t>психология </a:t>
            </a:r>
            <a:r>
              <a:rPr lang="en-US" altLang="bg-BG" sz="2800" b="1" dirty="0">
                <a:latin typeface="ArielSP" pitchFamily="34" charset="-52"/>
              </a:rPr>
              <a:t>(</a:t>
            </a:r>
            <a:r>
              <a:rPr lang="bg-BG" altLang="bg-BG" sz="2800" b="1" dirty="0" err="1">
                <a:latin typeface="ArielSP" pitchFamily="34" charset="-52"/>
              </a:rPr>
              <a:t>биопсихология</a:t>
            </a:r>
            <a:r>
              <a:rPr lang="en-US" altLang="bg-BG" sz="2800" b="1" dirty="0">
                <a:latin typeface="ArielSP" pitchFamily="34" charset="-52"/>
              </a:rPr>
              <a:t>)</a:t>
            </a:r>
            <a:r>
              <a:rPr lang="bg-BG" altLang="bg-BG" sz="2400" dirty="0">
                <a:latin typeface="ArielSP" pitchFamily="34" charset="-52"/>
              </a:rPr>
              <a:t> </a:t>
            </a:r>
            <a:endParaRPr lang="en-US" altLang="bg-BG" sz="2400" dirty="0">
              <a:latin typeface="ArielSP" pitchFamily="34" charset="-52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448300" y="2495550"/>
            <a:ext cx="1655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bg-BG" altLang="bg-BG" sz="2800">
                <a:latin typeface="ArielSP" pitchFamily="34" charset="-52"/>
              </a:rPr>
              <a:t>Изучава</a:t>
            </a:r>
            <a:r>
              <a:rPr lang="bg-BG" altLang="bg-BG" sz="2400">
                <a:latin typeface="ArielSP" pitchFamily="34" charset="-52"/>
              </a:rPr>
              <a:t>: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127125" y="3387725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4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Биологичните</a:t>
            </a:r>
            <a:r>
              <a:rPr lang="bg-BG" altLang="bg-BG" sz="24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основи на поведението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1127125" y="4425950"/>
            <a:ext cx="105918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bg-BG" altLang="bg-BG" sz="24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Физиологичните механизми (мозък, нарушения на функциите на мозъка, хормонални дисбаланси, влияния на вещества върху мозъка и т.н.) лежащи в основата на поведението и психичните разстройства</a:t>
            </a:r>
            <a:endParaRPr lang="en-US" altLang="bg-BG" sz="2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65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124200" y="6858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bg-BG" altLang="bg-BG" sz="2400" b="1">
              <a:latin typeface="ArielSP" pitchFamily="34" charset="-52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701675" y="145415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2. Психология на развитието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701675" y="3810000"/>
            <a:ext cx="11082338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>
                <a:latin typeface="ArielSP" pitchFamily="34" charset="-52"/>
              </a:rPr>
              <a:t>Промените – физически, интелектуални и емоционални, настъпващи през целия жизнен цикъл – от пренатално развитие, през новородено, кърмаческа възраст, предучилищна възраст, училищна възраст, юношество, зряла възраст, старост.</a:t>
            </a:r>
            <a:endParaRPr lang="en-US" altLang="bg-BG" sz="2800">
              <a:latin typeface="Times New Roman" panose="02020603050405020304" pitchFamily="18" charset="0"/>
            </a:endParaRPr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5029200" y="27432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Занимава</a:t>
            </a:r>
            <a:r>
              <a:rPr lang="bg-BG" altLang="bg-BG" sz="2400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се с: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5366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>
                <a:latin typeface="ArielSP" pitchFamily="34" charset="-52"/>
              </a:rPr>
              <a:t>Психологията </a:t>
            </a:r>
            <a:r>
              <a:rPr lang="bg-BG" altLang="bg-BG" sz="3200" b="1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>
                <a:latin typeface="ArielSP" pitchFamily="34" charset="-52"/>
              </a:rPr>
              <a:t> - основни дялове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701675" y="1454150"/>
            <a:ext cx="4784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3. Когнитивна психология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5411788" y="2665413"/>
            <a:ext cx="1728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Изучава</a:t>
            </a:r>
            <a:r>
              <a:rPr lang="bg-BG" altLang="bg-BG" sz="2400">
                <a:latin typeface="ArielSP" pitchFamily="34" charset="-52"/>
              </a:rPr>
              <a:t>: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701675" y="3716338"/>
            <a:ext cx="11082338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Когнитивните (умствените) процеси – усещане и възприятие, памет (видове памет и паметови процеси), мислене (видове мислене и качества на мисленето), решаване на проблеми (евристики, алгоритми, грешки…), вземане на решения и т.н.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6389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>
                <a:latin typeface="ArielSP" pitchFamily="34" charset="-52"/>
              </a:rPr>
              <a:t>Психологията </a:t>
            </a:r>
            <a:r>
              <a:rPr lang="bg-BG" altLang="bg-BG" sz="3200" b="1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>
                <a:latin typeface="ArielSP" pitchFamily="34" charset="-52"/>
              </a:rPr>
              <a:t> - основни дялове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696913" y="1458913"/>
            <a:ext cx="5932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4. Експериментална психология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6959600" y="4568825"/>
            <a:ext cx="3992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Личностни особености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696913" y="5930900"/>
            <a:ext cx="1058386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Във всички клонове на психологията се правят експерименти.</a:t>
            </a:r>
            <a:endParaRPr lang="en-US" altLang="bg-BG" sz="2800">
              <a:latin typeface="Times New Roman" panose="02020603050405020304" pitchFamily="18" charset="0"/>
            </a:endParaRPr>
          </a:p>
        </p:txBody>
      </p:sp>
      <p:sp>
        <p:nvSpPr>
          <p:cNvPr id="17413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5340350" y="2693988"/>
            <a:ext cx="187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Изследва</a:t>
            </a:r>
            <a:r>
              <a:rPr lang="bg-BG" altLang="bg-BG" sz="2400" dirty="0">
                <a:latin typeface="ArielSP" pitchFamily="34" charset="-52"/>
              </a:rPr>
              <a:t>:</a:t>
            </a:r>
            <a:endParaRPr lang="en-US" altLang="bg-BG" sz="2400" dirty="0">
              <a:latin typeface="ArielSP" pitchFamily="34" charset="-52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587375" y="3246438"/>
            <a:ext cx="1137602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Всякакви психични процеси и явления. Подлага на проверка твърденията на отделни теории и цели теоретични парадигми.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7416" name="Text Box 5"/>
          <p:cNvSpPr txBox="1">
            <a:spLocks noChangeArrowheads="1"/>
          </p:cNvSpPr>
          <p:nvPr/>
        </p:nvSpPr>
        <p:spPr bwMode="auto">
          <a:xfrm>
            <a:off x="982663" y="4568825"/>
            <a:ext cx="3556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Когнитивни процеси</a:t>
            </a:r>
          </a:p>
        </p:txBody>
      </p:sp>
      <p:sp>
        <p:nvSpPr>
          <p:cNvPr id="17417" name="Text Box 5"/>
          <p:cNvSpPr txBox="1">
            <a:spLocks noChangeArrowheads="1"/>
          </p:cNvSpPr>
          <p:nvPr/>
        </p:nvSpPr>
        <p:spPr bwMode="auto">
          <a:xfrm>
            <a:off x="2063750" y="5092700"/>
            <a:ext cx="374491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Социално поведение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17418" name="Text Box 5"/>
          <p:cNvSpPr txBox="1">
            <a:spLocks noChangeArrowheads="1"/>
          </p:cNvSpPr>
          <p:nvPr/>
        </p:nvSpPr>
        <p:spPr bwMode="auto">
          <a:xfrm>
            <a:off x="6232525" y="5092700"/>
            <a:ext cx="39925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Емоционален живот</a:t>
            </a:r>
            <a:endParaRPr lang="en-US" altLang="bg-BG" sz="2800">
              <a:latin typeface="ArielSP" pitchFamily="3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704108" y="1448611"/>
            <a:ext cx="107204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dirty="0" smtClean="0">
                <a:latin typeface="ArielSP" pitchFamily="34" charset="-52"/>
              </a:rPr>
              <a:t>5</a:t>
            </a:r>
            <a:r>
              <a:rPr lang="bg-BG" altLang="bg-BG" sz="2800" b="1" dirty="0">
                <a:latin typeface="ArielSP" pitchFamily="34" charset="-52"/>
              </a:rPr>
              <a:t>. </a:t>
            </a:r>
            <a:r>
              <a:rPr lang="bg-BG" altLang="bg-BG" sz="2800" b="1" dirty="0" err="1">
                <a:latin typeface="ArielSP" pitchFamily="34" charset="-52"/>
              </a:rPr>
              <a:t>Психометрика</a:t>
            </a:r>
            <a:r>
              <a:rPr lang="bg-BG" altLang="bg-BG" sz="2800" b="1" dirty="0">
                <a:latin typeface="ArielSP" pitchFamily="34" charset="-52"/>
              </a:rPr>
              <a:t> </a:t>
            </a:r>
            <a:r>
              <a:rPr lang="en-US" altLang="bg-BG" sz="2800" b="1" dirty="0" smtClean="0">
                <a:latin typeface="ArielSP" pitchFamily="34" charset="-52"/>
              </a:rPr>
              <a:t>(</a:t>
            </a:r>
            <a:r>
              <a:rPr lang="bg-BG" altLang="bg-BG" sz="2800" b="1" dirty="0" err="1" smtClean="0">
                <a:latin typeface="ArielSP" pitchFamily="34" charset="-52"/>
              </a:rPr>
              <a:t>психометрия</a:t>
            </a:r>
            <a:r>
              <a:rPr lang="bg-BG" altLang="bg-BG" sz="2800" b="1" dirty="0" smtClean="0">
                <a:latin typeface="ArielSP" pitchFamily="34" charset="-52"/>
              </a:rPr>
              <a:t>; количествена </a:t>
            </a:r>
            <a:r>
              <a:rPr lang="bg-BG" altLang="bg-BG" sz="2800" b="1" dirty="0">
                <a:latin typeface="ArielSP" pitchFamily="34" charset="-52"/>
              </a:rPr>
              <a:t>психология</a:t>
            </a:r>
            <a:r>
              <a:rPr lang="en-US" altLang="bg-BG" sz="2800" b="1" dirty="0">
                <a:latin typeface="ArielSP" pitchFamily="34" charset="-52"/>
              </a:rPr>
              <a:t>)</a:t>
            </a:r>
            <a:r>
              <a:rPr lang="bg-BG" altLang="bg-BG" sz="2800" dirty="0">
                <a:latin typeface="ArielSP" pitchFamily="34" charset="-52"/>
              </a:rPr>
              <a:t> 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704108" y="2621230"/>
            <a:ext cx="105052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400" dirty="0">
                <a:latin typeface="ArielSP" pitchFamily="34" charset="-52"/>
              </a:rPr>
              <a:t> </a:t>
            </a:r>
            <a:r>
              <a:rPr lang="bg-BG" altLang="bg-BG" sz="2800" dirty="0">
                <a:latin typeface="ArielSP" pitchFamily="34" charset="-52"/>
              </a:rPr>
              <a:t>Теория и практика на тестирането с цел измерване на личността, </a:t>
            </a:r>
            <a:r>
              <a:rPr lang="bg-BG" altLang="bg-BG" sz="2800" dirty="0" smtClean="0">
                <a:latin typeface="ArielSP" pitchFamily="34" charset="-52"/>
              </a:rPr>
              <a:t>интелигентността, </a:t>
            </a:r>
            <a:r>
              <a:rPr lang="bg-BG" altLang="bg-BG" sz="2800" dirty="0">
                <a:latin typeface="ArielSP" pitchFamily="34" charset="-52"/>
              </a:rPr>
              <a:t>различните умствени </a:t>
            </a:r>
            <a:r>
              <a:rPr lang="bg-BG" altLang="bg-BG" sz="2800" dirty="0" smtClean="0">
                <a:latin typeface="ArielSP" pitchFamily="34" charset="-52"/>
              </a:rPr>
              <a:t>способности, всякакви психични процеси, връзки между поведения.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704108" y="4995173"/>
            <a:ext cx="106484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400" dirty="0">
                <a:latin typeface="ArielSP" pitchFamily="34" charset="-52"/>
              </a:rPr>
              <a:t> </a:t>
            </a:r>
            <a:r>
              <a:rPr lang="bg-BG" altLang="bg-BG" sz="2800" dirty="0" smtClean="0">
                <a:latin typeface="ArielSP" pitchFamily="34" charset="-52"/>
              </a:rPr>
              <a:t>Ползва и за нейните нужди се разработват </a:t>
            </a:r>
            <a:r>
              <a:rPr lang="bg-BG" altLang="bg-BG" sz="2800" dirty="0">
                <a:latin typeface="ArielSP" pitchFamily="34" charset="-52"/>
              </a:rPr>
              <a:t>статистически процедури за анализ на емпирични данни</a:t>
            </a:r>
            <a:r>
              <a:rPr lang="bg-BG" altLang="bg-BG" sz="2800" dirty="0" smtClean="0">
                <a:latin typeface="ArielSP" pitchFamily="34" charset="-52"/>
              </a:rPr>
              <a:t>.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5636" y="1449720"/>
            <a:ext cx="513204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b="1" dirty="0">
                <a:latin typeface="ArielSP" pitchFamily="34" charset="-52"/>
              </a:rPr>
              <a:t>6. Психология на личността</a:t>
            </a:r>
            <a:r>
              <a:rPr lang="bg-BG" altLang="bg-BG" sz="2400" dirty="0">
                <a:latin typeface="ArielSP" pitchFamily="34" charset="-52"/>
              </a:rPr>
              <a:t> </a:t>
            </a:r>
            <a:endParaRPr lang="en-US" altLang="bg-BG" sz="2400" dirty="0">
              <a:latin typeface="ArielSP" pitchFamily="34" charset="-52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5444641" y="2423069"/>
            <a:ext cx="166308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Изучава: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685636" y="4663528"/>
            <a:ext cx="110989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800" dirty="0">
                <a:latin typeface="ArielSP" pitchFamily="34" charset="-52"/>
              </a:rPr>
              <a:t> Индивидуалните </a:t>
            </a:r>
            <a:r>
              <a:rPr lang="bg-BG" altLang="bg-BG" sz="2800" b="1" dirty="0">
                <a:latin typeface="ArielSP" pitchFamily="34" charset="-52"/>
              </a:rPr>
              <a:t>различия</a:t>
            </a:r>
            <a:r>
              <a:rPr lang="bg-BG" altLang="bg-BG" sz="2800" dirty="0">
                <a:latin typeface="ArielSP" pitchFamily="34" charset="-52"/>
              </a:rPr>
              <a:t> между хората и как те се </a:t>
            </a:r>
            <a:r>
              <a:rPr lang="bg-BG" altLang="bg-BG" sz="2800" dirty="0" smtClean="0">
                <a:latin typeface="ArielSP" pitchFamily="34" charset="-52"/>
              </a:rPr>
              <a:t>развиват; </a:t>
            </a:r>
            <a:endParaRPr lang="en-US" altLang="bg-BG" sz="2800" dirty="0">
              <a:latin typeface="Times New Roman" panose="02020603050405020304" pitchFamily="18" charset="0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685636" y="3325811"/>
            <a:ext cx="1030690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800" dirty="0">
                <a:latin typeface="ArielSP" pitchFamily="34" charset="-52"/>
              </a:rPr>
              <a:t> Относителното </a:t>
            </a:r>
            <a:r>
              <a:rPr lang="bg-BG" altLang="bg-BG" sz="2800" b="1" dirty="0">
                <a:latin typeface="ArielSP" pitchFamily="34" charset="-52"/>
              </a:rPr>
              <a:t>постоянство</a:t>
            </a:r>
            <a:r>
              <a:rPr lang="bg-BG" altLang="bg-BG" sz="2800" dirty="0">
                <a:latin typeface="ArielSP" pitchFamily="34" charset="-52"/>
              </a:rPr>
              <a:t> в поведението на човека в най-различни </a:t>
            </a:r>
            <a:r>
              <a:rPr lang="bg-BG" altLang="bg-BG" sz="2800" dirty="0" smtClean="0">
                <a:latin typeface="ArielSP" pitchFamily="34" charset="-52"/>
              </a:rPr>
              <a:t>условия;</a:t>
            </a:r>
            <a:endParaRPr lang="en-US" altLang="bg-BG" sz="2800" dirty="0">
              <a:latin typeface="Times New Roman" panose="02020603050405020304" pitchFamily="18" charset="0"/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685636" y="5570377"/>
            <a:ext cx="9425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400" dirty="0">
                <a:latin typeface="ArielSP" pitchFamily="34" charset="-52"/>
              </a:rPr>
              <a:t> </a:t>
            </a:r>
            <a:r>
              <a:rPr lang="bg-BG" altLang="bg-BG" sz="2800" dirty="0">
                <a:latin typeface="ArielSP" pitchFamily="34" charset="-52"/>
              </a:rPr>
              <a:t>Факторите, от които зависи </a:t>
            </a:r>
            <a:r>
              <a:rPr lang="bg-BG" altLang="bg-BG" sz="2800" b="1" dirty="0">
                <a:latin typeface="ArielSP" pitchFamily="34" charset="-52"/>
              </a:rPr>
              <a:t>уникалността</a:t>
            </a:r>
            <a:r>
              <a:rPr lang="bg-BG" altLang="bg-BG" sz="2800" dirty="0">
                <a:latin typeface="ArielSP" pitchFamily="34" charset="-52"/>
              </a:rPr>
              <a:t> на човека.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704108" y="1449720"/>
            <a:ext cx="452663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dirty="0">
                <a:latin typeface="ArielSP" pitchFamily="34" charset="-52"/>
              </a:rPr>
              <a:t>7. Социална психология</a:t>
            </a:r>
            <a:r>
              <a:rPr lang="bg-BG" altLang="bg-BG" sz="2400" dirty="0">
                <a:latin typeface="ArielSP" pitchFamily="34" charset="-52"/>
              </a:rPr>
              <a:t> </a:t>
            </a:r>
            <a:endParaRPr lang="en-US" altLang="bg-BG" sz="2400" dirty="0">
              <a:latin typeface="ArielSP" pitchFamily="34" charset="-52"/>
            </a:endParaRP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704108" y="3571875"/>
            <a:ext cx="1021642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bg-BG" altLang="bg-BG" sz="2400" dirty="0">
                <a:latin typeface="ArielSP" pitchFamily="34" charset="-52"/>
              </a:rPr>
              <a:t> </a:t>
            </a:r>
            <a:r>
              <a:rPr lang="bg-BG" altLang="bg-BG" sz="2800" dirty="0">
                <a:latin typeface="ArielSP" pitchFamily="34" charset="-52"/>
              </a:rPr>
              <a:t>Как присъствието на другите влияе върху поведението на </a:t>
            </a:r>
            <a:r>
              <a:rPr lang="bg-BG" altLang="bg-BG" sz="2800" dirty="0" smtClean="0">
                <a:latin typeface="ArielSP" pitchFamily="34" charset="-52"/>
              </a:rPr>
              <a:t>индивида;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704108" y="4876800"/>
            <a:ext cx="996389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bg-BG" altLang="bg-BG" sz="2800" dirty="0">
                <a:latin typeface="ArielSP" pitchFamily="34" charset="-52"/>
              </a:rPr>
              <a:t> Как хората реагират на поведението на другите и си взаимодействат ?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40350" y="2693988"/>
            <a:ext cx="187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Изследва</a:t>
            </a:r>
            <a:r>
              <a:rPr lang="bg-BG" altLang="bg-BG" sz="2400" dirty="0">
                <a:latin typeface="ArielSP" pitchFamily="34" charset="-52"/>
              </a:rPr>
              <a:t>:</a:t>
            </a:r>
            <a:endParaRPr lang="en-US" altLang="bg-BG" sz="2400" dirty="0">
              <a:latin typeface="ArielSP" pitchFamily="3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704108" y="1447840"/>
            <a:ext cx="448816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dirty="0">
                <a:latin typeface="ArielSP" pitchFamily="34" charset="-52"/>
              </a:rPr>
              <a:t>8. Клинична психология</a:t>
            </a:r>
            <a:r>
              <a:rPr lang="bg-BG" altLang="bg-BG" sz="2400" dirty="0">
                <a:latin typeface="ArielSP" pitchFamily="34" charset="-52"/>
              </a:rPr>
              <a:t> </a:t>
            </a:r>
            <a:endParaRPr lang="en-US" altLang="bg-BG" sz="2400" dirty="0">
              <a:latin typeface="ArielSP" pitchFamily="34" charset="-52"/>
            </a:endParaRP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3124200" y="30480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bg-BG" altLang="bg-BG" sz="2800">
                <a:latin typeface="ArielSP" pitchFamily="34" charset="-52"/>
              </a:rPr>
              <a:t>Занимава се с: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704108" y="4074646"/>
            <a:ext cx="103604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dirty="0" smtClean="0">
                <a:latin typeface="ArielSP" pitchFamily="34" charset="-52"/>
              </a:rPr>
              <a:t>Диагностициране </a:t>
            </a:r>
            <a:r>
              <a:rPr lang="bg-BG" altLang="bg-BG" sz="2800" dirty="0">
                <a:latin typeface="ArielSP" pitchFamily="34" charset="-52"/>
              </a:rPr>
              <a:t>и лечение на анормалното </a:t>
            </a:r>
            <a:r>
              <a:rPr lang="bg-BG" altLang="bg-BG" sz="2800" dirty="0" smtClean="0">
                <a:latin typeface="ArielSP" pitchFamily="34" charset="-52"/>
              </a:rPr>
              <a:t>поведение.</a:t>
            </a:r>
            <a:endParaRPr lang="en-US" altLang="bg-BG" sz="2800" dirty="0">
              <a:latin typeface="Times New Roman" panose="02020603050405020304" pitchFamily="18" charset="0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704108" y="5105400"/>
            <a:ext cx="108645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bg-BG" sz="2800" dirty="0">
                <a:latin typeface="ArielSP" pitchFamily="34" charset="-52"/>
              </a:rPr>
              <a:t>(М</a:t>
            </a:r>
            <a:r>
              <a:rPr lang="bg-BG" altLang="bg-BG" sz="2800" dirty="0" err="1">
                <a:latin typeface="ArielSP" pitchFamily="34" charset="-52"/>
              </a:rPr>
              <a:t>ного</a:t>
            </a:r>
            <a:r>
              <a:rPr lang="bg-BG" altLang="bg-BG" sz="2800" dirty="0">
                <a:latin typeface="ArielSP" pitchFamily="34" charset="-52"/>
              </a:rPr>
              <a:t> клинични психолози се занимават само с терапия без да правят изследвания</a:t>
            </a:r>
            <a:r>
              <a:rPr lang="en-US" altLang="bg-BG" sz="2800" dirty="0" smtClean="0">
                <a:latin typeface="ArielSP" pitchFamily="34" charset="-52"/>
              </a:rPr>
              <a:t>)</a:t>
            </a:r>
            <a:endParaRPr lang="en-US" altLang="bg-BG" sz="2800" dirty="0">
              <a:latin typeface="Times New Roman" panose="02020603050405020304" pitchFamily="18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704636" y="1449720"/>
            <a:ext cx="92077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 dirty="0">
                <a:latin typeface="ArielSP" pitchFamily="34" charset="-52"/>
              </a:rPr>
              <a:t>9. Психология на образованието </a:t>
            </a:r>
            <a:r>
              <a:rPr lang="en-US" altLang="bg-BG" sz="2800" b="1" dirty="0">
                <a:latin typeface="ArielSP" pitchFamily="34" charset="-52"/>
              </a:rPr>
              <a:t>(</a:t>
            </a:r>
            <a:r>
              <a:rPr lang="bg-BG" altLang="bg-BG" sz="2800" b="1" dirty="0">
                <a:latin typeface="ArielSP" pitchFamily="34" charset="-52"/>
              </a:rPr>
              <a:t>педагогическа</a:t>
            </a:r>
            <a:r>
              <a:rPr lang="en-US" altLang="bg-BG" sz="2800" b="1" dirty="0">
                <a:latin typeface="ArielSP" pitchFamily="34" charset="-52"/>
              </a:rPr>
              <a:t>)</a:t>
            </a:r>
            <a:r>
              <a:rPr lang="bg-BG" altLang="bg-BG" sz="2800" dirty="0">
                <a:latin typeface="ArielSP" pitchFamily="34" charset="-52"/>
              </a:rPr>
              <a:t> </a:t>
            </a:r>
            <a:endParaRPr lang="en-US" altLang="bg-BG" sz="2800" dirty="0">
              <a:latin typeface="ArielSP" pitchFamily="34" charset="-52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703288" y="2492896"/>
            <a:ext cx="110093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 dirty="0">
                <a:latin typeface="ArielSP" pitchFamily="34" charset="-52"/>
              </a:rPr>
              <a:t>Прилага фундаменталните психологични закономерности в сферата на </a:t>
            </a:r>
            <a:r>
              <a:rPr lang="bg-BG" altLang="bg-BG" sz="2800" dirty="0" smtClean="0">
                <a:latin typeface="ArielSP" pitchFamily="34" charset="-52"/>
              </a:rPr>
              <a:t>образованието с </a:t>
            </a:r>
            <a:r>
              <a:rPr lang="bg-BG" altLang="bg-BG" sz="2800" dirty="0">
                <a:latin typeface="ArielSP" pitchFamily="34" charset="-52"/>
              </a:rPr>
              <a:t>цел </a:t>
            </a:r>
            <a:r>
              <a:rPr lang="bg-BG" altLang="bg-BG" sz="2800" dirty="0" smtClean="0">
                <a:latin typeface="ArielSP" pitchFamily="34" charset="-52"/>
              </a:rPr>
              <a:t>повишаване на </a:t>
            </a:r>
            <a:r>
              <a:rPr lang="bg-BG" altLang="bg-BG" sz="2800" dirty="0">
                <a:latin typeface="ArielSP" pitchFamily="34" charset="-52"/>
              </a:rPr>
              <a:t>ефективността на обучението</a:t>
            </a:r>
            <a:r>
              <a:rPr lang="bg-BG" altLang="bg-BG" sz="2800" dirty="0" smtClean="0">
                <a:latin typeface="ArielSP" pitchFamily="34" charset="-52"/>
              </a:rPr>
              <a:t>. Преди това се е случвало главно по отношение на училищната система, но в днешно време се ползва от бебешки ясли до домове за възрастни.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343025" y="457200"/>
            <a:ext cx="9866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bg-BG" altLang="bg-BG" sz="3200" b="1" dirty="0">
                <a:latin typeface="ArielSP" pitchFamily="34" charset="-52"/>
              </a:rPr>
              <a:t>Психологията </a:t>
            </a:r>
            <a:r>
              <a:rPr lang="bg-BG" altLang="bg-BG" sz="3200" b="1" dirty="0">
                <a:solidFill>
                  <a:srgbClr val="3333CC"/>
                </a:solidFill>
                <a:latin typeface="ArielSP" pitchFamily="34" charset="-52"/>
              </a:rPr>
              <a:t>като наука</a:t>
            </a:r>
            <a:r>
              <a:rPr lang="bg-BG" altLang="bg-BG" sz="3200" b="1" dirty="0">
                <a:latin typeface="ArielSP" pitchFamily="34" charset="-52"/>
              </a:rPr>
              <a:t> - основни дялове</a:t>
            </a:r>
            <a:endParaRPr lang="en-US" altLang="bg-BG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1271999" y="764704"/>
            <a:ext cx="98647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4800" b="1" dirty="0">
                <a:latin typeface="ArielSP" pitchFamily="34" charset="-52"/>
              </a:rPr>
              <a:t>Приложна </a:t>
            </a:r>
            <a:r>
              <a:rPr lang="bg-BG" altLang="bg-BG" sz="4800" b="1" dirty="0" smtClean="0">
                <a:latin typeface="ArielSP" pitchFamily="34" charset="-52"/>
              </a:rPr>
              <a:t>психология</a:t>
            </a:r>
          </a:p>
          <a:p>
            <a:pPr marL="0" lvl="1" algn="ctr"/>
            <a:r>
              <a:rPr lang="en-US" altLang="bg-BG" sz="4800" b="1" dirty="0" smtClean="0">
                <a:latin typeface="ArielSP" pitchFamily="34" charset="-52"/>
              </a:rPr>
              <a:t>(</a:t>
            </a:r>
            <a:r>
              <a:rPr lang="bg-BG" altLang="bg-BG" sz="4800" b="1" dirty="0">
                <a:latin typeface="ArielSP" pitchFamily="34" charset="-52"/>
              </a:rPr>
              <a:t>основни специалности</a:t>
            </a:r>
            <a:r>
              <a:rPr lang="en-US" altLang="bg-BG" sz="4800" b="1" dirty="0" smtClean="0">
                <a:latin typeface="ArielSP" pitchFamily="34" charset="-52"/>
              </a:rPr>
              <a:t>)</a:t>
            </a:r>
            <a:endParaRPr lang="bg-BG" altLang="bg-BG" sz="4800" b="1" dirty="0" smtClean="0">
              <a:latin typeface="ArielSP" pitchFamily="34" charset="-52"/>
            </a:endParaRPr>
          </a:p>
          <a:p>
            <a:pPr marL="0" lvl="1" algn="ctr"/>
            <a:r>
              <a:rPr lang="bg-BG" altLang="bg-BG" sz="4800" b="1" dirty="0" smtClean="0">
                <a:latin typeface="ArielSP" pitchFamily="34" charset="-52"/>
              </a:rPr>
              <a:t>или</a:t>
            </a:r>
          </a:p>
          <a:p>
            <a:pPr marL="0" lvl="1" algn="ctr"/>
            <a:r>
              <a:rPr lang="bg-BG" altLang="bg-BG" sz="4800" b="1" dirty="0" smtClean="0">
                <a:latin typeface="ArielSP" pitchFamily="34" charset="-52"/>
              </a:rPr>
              <a:t>психологията</a:t>
            </a:r>
          </a:p>
          <a:p>
            <a:pPr marL="0" lvl="1" algn="ctr"/>
            <a:r>
              <a:rPr lang="bg-BG" altLang="bg-BG" sz="4800" b="1" dirty="0" smtClean="0">
                <a:solidFill>
                  <a:srgbClr val="FF0000"/>
                </a:solidFill>
                <a:latin typeface="ArielSP" pitchFamily="34" charset="-52"/>
              </a:rPr>
              <a:t>като </a:t>
            </a:r>
            <a:r>
              <a:rPr lang="bg-BG" altLang="bg-BG" sz="4800" b="1" dirty="0">
                <a:solidFill>
                  <a:srgbClr val="FF0000"/>
                </a:solidFill>
                <a:latin typeface="ArielSP" pitchFamily="34" charset="-52"/>
              </a:rPr>
              <a:t>професия</a:t>
            </a:r>
            <a:endParaRPr lang="en-US" altLang="bg-BG" sz="4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271464" y="5229200"/>
            <a:ext cx="964565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bg-BG" sz="2800" dirty="0">
                <a:latin typeface="ArielSP" pitchFamily="34" charset="-52"/>
              </a:rPr>
              <a:t>(</a:t>
            </a:r>
            <a:r>
              <a:rPr lang="bg-BG" altLang="bg-BG" sz="2800" dirty="0">
                <a:latin typeface="ArielSP" pitchFamily="34" charset="-52"/>
              </a:rPr>
              <a:t>Решава специфични проблеми като прилага научното познание и принципи на изследване.)</a:t>
            </a:r>
            <a:endParaRPr lang="en-US" altLang="bg-BG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1724025" y="458788"/>
            <a:ext cx="986472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3200" b="1">
                <a:latin typeface="ArielSP" pitchFamily="34" charset="-52"/>
              </a:rPr>
              <a:t>Приложна психология </a:t>
            </a:r>
            <a:r>
              <a:rPr lang="en-US" altLang="bg-BG" sz="3200" b="1">
                <a:latin typeface="ArielSP" pitchFamily="34" charset="-52"/>
              </a:rPr>
              <a:t>(</a:t>
            </a:r>
            <a:r>
              <a:rPr lang="bg-BG" altLang="bg-BG" sz="3200" b="1">
                <a:latin typeface="ArielSP" pitchFamily="34" charset="-52"/>
              </a:rPr>
              <a:t>основни специалности</a:t>
            </a:r>
            <a:r>
              <a:rPr lang="en-US" altLang="bg-BG" sz="3200" b="1">
                <a:latin typeface="ArielSP" pitchFamily="34" charset="-52"/>
              </a:rPr>
              <a:t>) </a:t>
            </a:r>
            <a:r>
              <a:rPr lang="bg-BG" altLang="bg-BG" sz="3200" b="1">
                <a:latin typeface="ArielSP" pitchFamily="34" charset="-52"/>
              </a:rPr>
              <a:t>или психологията </a:t>
            </a:r>
            <a:r>
              <a:rPr lang="bg-BG" altLang="bg-BG" sz="3200" b="1">
                <a:solidFill>
                  <a:srgbClr val="FF0000"/>
                </a:solidFill>
                <a:latin typeface="ArielSP" pitchFamily="34" charset="-52"/>
              </a:rPr>
              <a:t>като професия</a:t>
            </a:r>
            <a:endParaRPr lang="en-US" altLang="bg-BG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343025" y="2005013"/>
            <a:ext cx="9645650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bg-BG" sz="2800">
                <a:latin typeface="ArielSP" pitchFamily="34" charset="-52"/>
              </a:rPr>
              <a:t>(</a:t>
            </a:r>
            <a:r>
              <a:rPr lang="bg-BG" altLang="bg-BG" sz="2800">
                <a:latin typeface="ArielSP" pitchFamily="34" charset="-52"/>
              </a:rPr>
              <a:t>Решава специфични проблеми като прилага научното познание и принципи на изследване.)</a:t>
            </a:r>
            <a:endParaRPr lang="en-US" altLang="bg-BG" sz="2800">
              <a:latin typeface="Times New Roman" panose="02020603050405020304" pitchFamily="18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3000375" y="3573463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1. Клинична психология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2362200" y="4267200"/>
            <a:ext cx="8077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800">
                <a:latin typeface="ArielSP" pitchFamily="34" charset="-52"/>
              </a:rPr>
              <a:t>	Клиничните психолози работят в здравни заведения или на частна практика.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2362200" y="5486400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dirty="0">
                <a:latin typeface="ArielSP" pitchFamily="34" charset="-52"/>
              </a:rPr>
              <a:t>	Диагностицират и лекуват различни психологични проблеми</a:t>
            </a:r>
            <a:endParaRPr lang="en-US" altLang="bg-BG" sz="2400" dirty="0">
              <a:latin typeface="ArielSP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159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927350" y="2060575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	2. Консултативна психология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819400" y="2895600"/>
            <a:ext cx="7848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Психолозите-консултанти помагат на хората да се справят с психологичните си проблеми.</a:t>
            </a: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743200" y="4800600"/>
            <a:ext cx="7924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Занимават се предимно с правилата на нормалното адаптиране и развитие на човека, а не с патология. 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24584" name="Text Box 2"/>
          <p:cNvSpPr txBox="1">
            <a:spLocks noChangeArrowheads="1"/>
          </p:cNvSpPr>
          <p:nvPr/>
        </p:nvSpPr>
        <p:spPr bwMode="auto">
          <a:xfrm>
            <a:off x="1724025" y="458788"/>
            <a:ext cx="986472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3200" b="1">
                <a:latin typeface="ArielSP" pitchFamily="34" charset="-52"/>
              </a:rPr>
              <a:t>Приложна психология </a:t>
            </a:r>
            <a:r>
              <a:rPr lang="en-US" altLang="bg-BG" sz="3200" b="1">
                <a:latin typeface="ArielSP" pitchFamily="34" charset="-52"/>
              </a:rPr>
              <a:t>(</a:t>
            </a:r>
            <a:r>
              <a:rPr lang="bg-BG" altLang="bg-BG" sz="3200" b="1">
                <a:latin typeface="ArielSP" pitchFamily="34" charset="-52"/>
              </a:rPr>
              <a:t>основни специалности</a:t>
            </a:r>
            <a:r>
              <a:rPr lang="en-US" altLang="bg-BG" sz="3200" b="1">
                <a:latin typeface="ArielSP" pitchFamily="34" charset="-52"/>
              </a:rPr>
              <a:t>) </a:t>
            </a:r>
            <a:r>
              <a:rPr lang="bg-BG" altLang="bg-BG" sz="3200" b="1">
                <a:latin typeface="ArielSP" pitchFamily="34" charset="-52"/>
              </a:rPr>
              <a:t>или психологията </a:t>
            </a:r>
            <a:r>
              <a:rPr lang="bg-BG" altLang="bg-BG" sz="3200" b="1">
                <a:solidFill>
                  <a:srgbClr val="FF0000"/>
                </a:solidFill>
                <a:latin typeface="ArielSP" pitchFamily="34" charset="-52"/>
              </a:rPr>
              <a:t>като професия</a:t>
            </a:r>
            <a:endParaRPr lang="en-US" altLang="bg-BG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055688" y="1989138"/>
            <a:ext cx="10533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3. Училищна психология (психология в образованието)</a:t>
            </a:r>
            <a:r>
              <a:rPr lang="bg-BG" altLang="bg-BG" sz="2400" b="1">
                <a:latin typeface="ArielSP" pitchFamily="34" charset="-52"/>
              </a:rPr>
              <a:t> </a:t>
            </a:r>
            <a:endParaRPr lang="en-US" altLang="bg-BG" sz="2400" b="1">
              <a:latin typeface="ArielSP" pitchFamily="34" charset="-52"/>
            </a:endParaRPr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2743200" y="2895600"/>
            <a:ext cx="7924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Училищните психолози работят в</a:t>
            </a:r>
            <a:r>
              <a:rPr lang="bg-BG" altLang="bg-BG" sz="2800" b="1">
                <a:latin typeface="ArielSP" pitchFamily="34" charset="-52"/>
              </a:rPr>
              <a:t> </a:t>
            </a:r>
            <a:r>
              <a:rPr lang="bg-BG" altLang="bg-BG" sz="2800">
                <a:latin typeface="ArielSP" pitchFamily="34" charset="-52"/>
              </a:rPr>
              <a:t>училищна среда - от началното училище до университета.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25604" name="Text Box 5"/>
          <p:cNvSpPr txBox="1">
            <a:spLocks noChangeArrowheads="1"/>
          </p:cNvSpPr>
          <p:nvPr/>
        </p:nvSpPr>
        <p:spPr bwMode="auto">
          <a:xfrm>
            <a:off x="2743200" y="4572000"/>
            <a:ext cx="792480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Помагат на учащите се в обучението им, в социалното им приспособяване и в избора на професия; на учителите и на родителите.</a:t>
            </a:r>
          </a:p>
          <a:p>
            <a:pPr>
              <a:spcBef>
                <a:spcPct val="50000"/>
              </a:spcBef>
            </a:pPr>
            <a:endParaRPr lang="en-US" altLang="bg-BG" sz="2800">
              <a:latin typeface="Times New Roman" panose="02020603050405020304" pitchFamily="18" charset="0"/>
            </a:endParaRPr>
          </a:p>
        </p:txBody>
      </p:sp>
      <p:sp>
        <p:nvSpPr>
          <p:cNvPr id="25605" name="Text Box 2"/>
          <p:cNvSpPr txBox="1">
            <a:spLocks noChangeArrowheads="1"/>
          </p:cNvSpPr>
          <p:nvPr/>
        </p:nvSpPr>
        <p:spPr bwMode="auto">
          <a:xfrm>
            <a:off x="1724025" y="458788"/>
            <a:ext cx="986472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3200" b="1">
                <a:latin typeface="ArielSP" pitchFamily="34" charset="-52"/>
              </a:rPr>
              <a:t>Приложна психология </a:t>
            </a:r>
            <a:r>
              <a:rPr lang="en-US" altLang="bg-BG" sz="3200" b="1">
                <a:latin typeface="ArielSP" pitchFamily="34" charset="-52"/>
              </a:rPr>
              <a:t>(</a:t>
            </a:r>
            <a:r>
              <a:rPr lang="bg-BG" altLang="bg-BG" sz="3200" b="1">
                <a:latin typeface="ArielSP" pitchFamily="34" charset="-52"/>
              </a:rPr>
              <a:t>основни специалности</a:t>
            </a:r>
            <a:r>
              <a:rPr lang="en-US" altLang="bg-BG" sz="3200" b="1">
                <a:latin typeface="ArielSP" pitchFamily="34" charset="-52"/>
              </a:rPr>
              <a:t>) </a:t>
            </a:r>
            <a:r>
              <a:rPr lang="bg-BG" altLang="bg-BG" sz="3200" b="1">
                <a:latin typeface="ArielSP" pitchFamily="34" charset="-52"/>
              </a:rPr>
              <a:t>или психологията </a:t>
            </a:r>
            <a:r>
              <a:rPr lang="bg-BG" altLang="bg-BG" sz="3200" b="1">
                <a:solidFill>
                  <a:srgbClr val="FF0000"/>
                </a:solidFill>
                <a:latin typeface="ArielSP" pitchFamily="34" charset="-52"/>
              </a:rPr>
              <a:t>като професия</a:t>
            </a:r>
            <a:endParaRPr lang="en-US" altLang="bg-BG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2667000" y="22098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4. Трудова и организационна психология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2819400" y="3048000"/>
            <a:ext cx="7315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Организационните психолози работят в предприятия и организации - в отделите по персонала. </a:t>
            </a:r>
            <a:endParaRPr lang="en-US" altLang="bg-BG" sz="2800">
              <a:latin typeface="ArielSP" pitchFamily="34" charset="-52"/>
            </a:endParaRPr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2743200" y="4876800"/>
            <a:ext cx="7467600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Подготвят и провеждат програми за обучение и оценка на персонала.</a:t>
            </a:r>
          </a:p>
          <a:p>
            <a:pPr>
              <a:spcBef>
                <a:spcPct val="50000"/>
              </a:spcBef>
            </a:pP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26629" name="Text Box 2"/>
          <p:cNvSpPr txBox="1">
            <a:spLocks noChangeArrowheads="1"/>
          </p:cNvSpPr>
          <p:nvPr/>
        </p:nvSpPr>
        <p:spPr bwMode="auto">
          <a:xfrm>
            <a:off x="1724025" y="458788"/>
            <a:ext cx="986472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3200" b="1">
                <a:latin typeface="ArielSP" pitchFamily="34" charset="-52"/>
              </a:rPr>
              <a:t>Приложна психология </a:t>
            </a:r>
            <a:r>
              <a:rPr lang="en-US" altLang="bg-BG" sz="3200" b="1">
                <a:latin typeface="ArielSP" pitchFamily="34" charset="-52"/>
              </a:rPr>
              <a:t>(</a:t>
            </a:r>
            <a:r>
              <a:rPr lang="bg-BG" altLang="bg-BG" sz="3200" b="1">
                <a:latin typeface="ArielSP" pitchFamily="34" charset="-52"/>
              </a:rPr>
              <a:t>основни специалности</a:t>
            </a:r>
            <a:r>
              <a:rPr lang="en-US" altLang="bg-BG" sz="3200" b="1">
                <a:latin typeface="ArielSP" pitchFamily="34" charset="-52"/>
              </a:rPr>
              <a:t>) </a:t>
            </a:r>
            <a:r>
              <a:rPr lang="bg-BG" altLang="bg-BG" sz="3200" b="1">
                <a:latin typeface="ArielSP" pitchFamily="34" charset="-52"/>
              </a:rPr>
              <a:t>или психологията </a:t>
            </a:r>
            <a:r>
              <a:rPr lang="bg-BG" altLang="bg-BG" sz="3200" b="1">
                <a:solidFill>
                  <a:srgbClr val="FF0000"/>
                </a:solidFill>
                <a:latin typeface="ArielSP" pitchFamily="34" charset="-52"/>
              </a:rPr>
              <a:t>като професия</a:t>
            </a:r>
            <a:endParaRPr lang="en-US" altLang="bg-BG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971800" y="2286000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altLang="bg-BG" sz="2800" b="1">
                <a:latin typeface="ArielSP" pitchFamily="34" charset="-52"/>
              </a:rPr>
              <a:t>5. Психология на здравето</a:t>
            </a:r>
            <a:r>
              <a:rPr lang="bg-BG" altLang="bg-BG" sz="2400">
                <a:latin typeface="ArielSP" pitchFamily="34" charset="-52"/>
              </a:rPr>
              <a:t> </a:t>
            </a:r>
            <a:endParaRPr lang="en-US" altLang="bg-BG" sz="2400">
              <a:latin typeface="ArielSP" pitchFamily="34" charset="-5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743200" y="3657600"/>
            <a:ext cx="7924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bg-BG" altLang="bg-BG" sz="2400">
                <a:latin typeface="ArielSP" pitchFamily="34" charset="-52"/>
              </a:rPr>
              <a:t>	</a:t>
            </a:r>
            <a:r>
              <a:rPr lang="bg-BG" altLang="bg-BG" sz="2800">
                <a:latin typeface="ArielSP" pitchFamily="34" charset="-52"/>
              </a:rPr>
              <a:t>Прилага психологичното знание за решаване на проблеми със здравето, главно свързани със стреса.</a:t>
            </a:r>
          </a:p>
          <a:p>
            <a:endParaRPr lang="bg-BG" altLang="bg-BG" sz="2400">
              <a:latin typeface="ArielSP" pitchFamily="34" charset="-52"/>
            </a:endParaRPr>
          </a:p>
          <a:p>
            <a:pPr>
              <a:spcBef>
                <a:spcPct val="50000"/>
              </a:spcBef>
            </a:pPr>
            <a:endParaRPr lang="en-US" altLang="bg-BG" sz="2400">
              <a:latin typeface="Times New Roman" panose="02020603050405020304" pitchFamily="18" charset="0"/>
            </a:endParaRPr>
          </a:p>
        </p:txBody>
      </p:sp>
      <p:sp>
        <p:nvSpPr>
          <p:cNvPr id="27654" name="Text Box 2"/>
          <p:cNvSpPr txBox="1">
            <a:spLocks noChangeArrowheads="1"/>
          </p:cNvSpPr>
          <p:nvPr/>
        </p:nvSpPr>
        <p:spPr bwMode="auto">
          <a:xfrm>
            <a:off x="1724025" y="458788"/>
            <a:ext cx="986472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3200" b="1">
                <a:latin typeface="ArielSP" pitchFamily="34" charset="-52"/>
              </a:rPr>
              <a:t>Приложна психология </a:t>
            </a:r>
            <a:r>
              <a:rPr lang="en-US" altLang="bg-BG" sz="3200" b="1">
                <a:latin typeface="ArielSP" pitchFamily="34" charset="-52"/>
              </a:rPr>
              <a:t>(</a:t>
            </a:r>
            <a:r>
              <a:rPr lang="bg-BG" altLang="bg-BG" sz="3200" b="1">
                <a:latin typeface="ArielSP" pitchFamily="34" charset="-52"/>
              </a:rPr>
              <a:t>основни специалности</a:t>
            </a:r>
            <a:r>
              <a:rPr lang="en-US" altLang="bg-BG" sz="3200" b="1">
                <a:latin typeface="ArielSP" pitchFamily="34" charset="-52"/>
              </a:rPr>
              <a:t>) </a:t>
            </a:r>
            <a:r>
              <a:rPr lang="bg-BG" altLang="bg-BG" sz="3200" b="1">
                <a:latin typeface="ArielSP" pitchFamily="34" charset="-52"/>
              </a:rPr>
              <a:t>или психологията </a:t>
            </a:r>
            <a:r>
              <a:rPr lang="bg-BG" altLang="bg-BG" sz="3200" b="1">
                <a:solidFill>
                  <a:srgbClr val="FF0000"/>
                </a:solidFill>
                <a:latin typeface="ArielSP" pitchFamily="34" charset="-52"/>
              </a:rPr>
              <a:t>като професия</a:t>
            </a:r>
            <a:endParaRPr lang="en-US" altLang="bg-BG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Text Box 2"/>
          <p:cNvSpPr txBox="1">
            <a:spLocks noChangeArrowheads="1"/>
          </p:cNvSpPr>
          <p:nvPr/>
        </p:nvSpPr>
        <p:spPr bwMode="auto">
          <a:xfrm>
            <a:off x="767408" y="2060848"/>
            <a:ext cx="104679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bg-BG" altLang="bg-BG" sz="7200" b="1" dirty="0" smtClean="0">
                <a:latin typeface="ArielSP" pitchFamily="34" charset="-52"/>
              </a:rPr>
              <a:t>Благодаря за вниманието!</a:t>
            </a:r>
            <a:endParaRPr lang="en-US" altLang="bg-BG" sz="7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0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Тема н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н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н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1550</TotalTime>
  <Words>1065</Words>
  <Application>Microsoft Office PowerPoint</Application>
  <PresentationFormat>Widescreen</PresentationFormat>
  <Paragraphs>131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 Light</vt:lpstr>
      <vt:lpstr>Calibri</vt:lpstr>
      <vt:lpstr>Times New Roman</vt:lpstr>
      <vt:lpstr>ArielSP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NBU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Rusko Ruskov</dc:creator>
  <cp:lastModifiedBy>Microsoft account</cp:lastModifiedBy>
  <cp:revision>107</cp:revision>
  <dcterms:created xsi:type="dcterms:W3CDTF">2002-02-19T13:21:30Z</dcterms:created>
  <dcterms:modified xsi:type="dcterms:W3CDTF">2025-10-03T13:00:38Z</dcterms:modified>
</cp:coreProperties>
</file>